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6F0B96-ED53-4DBD-A44F-B31CC66942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B79FD7-AA6A-4B9C-B1DF-90AD674310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6775E-3FA8-4E7B-A268-AEDB54C3B2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8A6119-F1E0-40E7-86B3-9F2979949C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269024-55C9-4CA0-84CD-2342B71545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BA28E8-4CBD-4CB7-8FE5-9AD61C0EBD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C13BD-6752-461B-AC84-FB5B475B3A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E87DB7-D55F-44DD-9BA8-45FFFCBB66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56215-ED57-4432-9A12-8C857017E4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49CA1-D609-4002-A053-DB4ED904AB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E47EF-DC22-48E7-976F-4C2B832F10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E3E13-F4BC-4B66-9337-6A019E0693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5320" spc="-1" strike="noStrike">
                <a:latin typeface="Arial"/>
              </a:rPr>
              <a:t>Click to edit the title text format</a:t>
            </a:r>
            <a:endParaRPr b="0" lang="en-GB" sz="532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870" spc="-1" strike="noStrike">
                <a:latin typeface="Arial"/>
              </a:rPr>
              <a:t>Click to edit the </a:t>
            </a:r>
            <a:r>
              <a:rPr b="0" lang="en-GB" sz="3870" spc="-1" strike="noStrike">
                <a:latin typeface="Arial"/>
              </a:rPr>
              <a:t>outline text format</a:t>
            </a:r>
            <a:endParaRPr b="0" lang="en-GB" sz="3870" spc="-1" strike="noStrike">
              <a:latin typeface="Arial"/>
            </a:endParaRPr>
          </a:p>
          <a:p>
            <a:pPr lvl="1" marL="864000" indent="-324000"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3390" spc="-1" strike="noStrike">
                <a:latin typeface="Arial"/>
              </a:rPr>
              <a:t>Second Outline </a:t>
            </a:r>
            <a:r>
              <a:rPr b="0" lang="en-GB" sz="3390" spc="-1" strike="noStrike">
                <a:latin typeface="Arial"/>
              </a:rPr>
              <a:t>Level</a:t>
            </a:r>
            <a:endParaRPr b="0" lang="en-GB" sz="3390" spc="-1" strike="noStrike">
              <a:latin typeface="Arial"/>
            </a:endParaRPr>
          </a:p>
          <a:p>
            <a:pPr lvl="2" marL="1296000" indent="-288000">
              <a:spcBef>
                <a:spcPts val="102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900" spc="-1" strike="noStrike">
                <a:latin typeface="Arial"/>
              </a:rPr>
              <a:t>Third Outline </a:t>
            </a:r>
            <a:r>
              <a:rPr b="0" lang="en-GB" sz="2900" spc="-1" strike="noStrike">
                <a:latin typeface="Arial"/>
              </a:rPr>
              <a:t>Level</a:t>
            </a:r>
            <a:endParaRPr b="0" lang="en-GB" sz="2900" spc="-1" strike="noStrike">
              <a:latin typeface="Arial"/>
            </a:endParaRPr>
          </a:p>
          <a:p>
            <a:pPr lvl="3" marL="1728000" indent="-216000">
              <a:spcBef>
                <a:spcPts val="68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20" spc="-1" strike="noStrike">
                <a:latin typeface="Arial"/>
              </a:rPr>
              <a:t>Fourth Outline </a:t>
            </a:r>
            <a:r>
              <a:rPr b="0" lang="en-GB" sz="2420" spc="-1" strike="noStrike">
                <a:latin typeface="Arial"/>
              </a:rPr>
              <a:t>Level</a:t>
            </a:r>
            <a:endParaRPr b="0" lang="en-GB" sz="2420" spc="-1" strike="noStrike">
              <a:latin typeface="Arial"/>
            </a:endParaRPr>
          </a:p>
          <a:p>
            <a:pPr lvl="4" marL="2160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20" spc="-1" strike="noStrike">
                <a:latin typeface="Arial"/>
              </a:rPr>
              <a:t>Fifth Outline </a:t>
            </a:r>
            <a:r>
              <a:rPr b="0" lang="en-GB" sz="2420" spc="-1" strike="noStrike">
                <a:latin typeface="Arial"/>
              </a:rPr>
              <a:t>Level</a:t>
            </a:r>
            <a:endParaRPr b="0" lang="en-GB" sz="2420" spc="-1" strike="noStrike">
              <a:latin typeface="Arial"/>
            </a:endParaRPr>
          </a:p>
          <a:p>
            <a:pPr lvl="5" marL="2592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20" spc="-1" strike="noStrike">
                <a:latin typeface="Arial"/>
              </a:rPr>
              <a:t>Sixth Outline </a:t>
            </a:r>
            <a:r>
              <a:rPr b="0" lang="en-GB" sz="2420" spc="-1" strike="noStrike">
                <a:latin typeface="Arial"/>
              </a:rPr>
              <a:t>Level</a:t>
            </a:r>
            <a:endParaRPr b="0" lang="en-GB" sz="2420" spc="-1" strike="noStrike">
              <a:latin typeface="Arial"/>
            </a:endParaRPr>
          </a:p>
          <a:p>
            <a:pPr lvl="6" marL="3024000" indent="-216000"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20" spc="-1" strike="noStrike">
                <a:latin typeface="Arial"/>
              </a:rPr>
              <a:t>Seventh </a:t>
            </a:r>
            <a:r>
              <a:rPr b="0" lang="en-GB" sz="2420" spc="-1" strike="noStrike">
                <a:latin typeface="Arial"/>
              </a:rPr>
              <a:t>Outline </a:t>
            </a:r>
            <a:r>
              <a:rPr b="0" lang="en-GB" sz="2420" spc="-1" strike="noStrike">
                <a:latin typeface="Arial"/>
              </a:rPr>
              <a:t>Level</a:t>
            </a:r>
            <a:endParaRPr b="0" lang="en-GB" sz="242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09480" y="6247440"/>
            <a:ext cx="284040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169520" y="6247440"/>
            <a:ext cx="386424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741160" y="6247440"/>
            <a:ext cx="284040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D16328C-0AE5-4AC6-966E-484E2D892315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482400"/>
            <a:ext cx="10972080" cy="365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Hospital X</a:t>
            </a:r>
            <a:br>
              <a:rPr sz="6000"/>
            </a:b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SAMueL Analysis</a:t>
            </a:r>
            <a:br>
              <a:rPr sz="6000"/>
            </a:br>
            <a:r>
              <a:rPr b="0" lang="en-US" sz="4000" spc="-1" strike="noStrike">
                <a:solidFill>
                  <a:srgbClr val="000000"/>
                </a:solidFill>
                <a:latin typeface="Calibri Light"/>
              </a:rPr>
              <a:t>(Stroke Audit Machine Learning)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2943360"/>
            <a:ext cx="10972080" cy="209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(Michael Allen, Kerry Pearn, Anna Laws, Martin James)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135720"/>
            <a:ext cx="1097208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Breaking down the emergency stroke pathway into key steps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09480" y="4217760"/>
            <a:ext cx="109720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We can model key changes to pathway, such as:</a:t>
            </a:r>
            <a:endParaRPr b="0" lang="en-GB" sz="18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What if the pathway were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faster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?</a:t>
            </a:r>
            <a:endParaRPr b="0" lang="en-GB" sz="18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What if hospital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determined the stroke onset time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in more patients?</a:t>
            </a:r>
            <a:endParaRPr b="0" lang="en-GB" sz="18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What if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clinical decision-making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was like that of benchmark hospitals?</a:t>
            </a:r>
            <a:endParaRPr b="0" lang="en-GB" sz="1800" spc="-1" strike="noStrike">
              <a:latin typeface="Arial"/>
              <a:ea typeface="Noto Sans CJK SC"/>
            </a:endParaRPr>
          </a:p>
          <a:p>
            <a:pPr lvl="2" marL="1296000" indent="-288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Predict what treatment a patient would receive at other hospitals</a:t>
            </a:r>
            <a:endParaRPr b="0" lang="en-GB" sz="1800" spc="-1" strike="noStrike">
              <a:latin typeface="Arial"/>
              <a:ea typeface="Noto Sans CJK SC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We model these changes with a hospital’s own patient population, to allow for inter-hospital variation in patient population characteristics.</a:t>
            </a:r>
            <a:endParaRPr b="0" lang="en-GB" sz="1800" spc="-1" strike="noStrike">
              <a:latin typeface="Arial"/>
              <a:ea typeface="Noto Sans CJK SC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914760" y="1533960"/>
            <a:ext cx="10449720" cy="246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57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Machine learning overview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0" y="5148000"/>
            <a:ext cx="11581560" cy="19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Machine learning is based on the simple principle of recognising similarity to what has been seen before</a:t>
            </a: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We accessed 246,676 emergency stroke admissions in England and Wales over three years. Our machine learning models use XGBoost classification, and are based on those 88,928 patients who arrive within 4 hours of known stroke onset. Accuracy = 85% (ROC AUC = 0.92).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872000" y="957240"/>
            <a:ext cx="8100000" cy="401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Predicting hospital thrombolysis use across 132 hospitals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940000" y="1604520"/>
            <a:ext cx="5641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Predicted thrombolysis use (for patients arriving within 4 hours of known stroke onset) was measured by combining 5 test sets from k-fold validation (where the model is tested on data not used to train the model). </a:t>
            </a: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predicted vs. observed thrombolysis are highly correlated (r-squared 0.977).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539640" y="1620000"/>
            <a:ext cx="522036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7480" y="-8676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Descriptive stats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13480" y="900000"/>
            <a:ext cx="4430520" cy="55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Stats are for 5 years (2017-2021)</a:t>
            </a:r>
            <a:endParaRPr b="0" lang="en-GB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Out of hospital admissions only</a:t>
            </a:r>
            <a:endParaRPr b="0" lang="en-GB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General observations: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60% of patients have stroke time determined (lower than national average)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For patients arriving within 4 hours of known stroke onset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Age is older than national average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Prior disability is similar to national average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Stroke severity is a </a:t>
            </a:r>
            <a:r>
              <a:rPr b="0" i="1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little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lower than national average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Ambulance response, on-scene, and travel times are similar to national average (2017-2021)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Arrival-to-scan time is faster than national average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1" marL="864000" indent="-32400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Scan-to-thrombolysis time is slower than national average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2" marL="1296000" indent="-288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Distances?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2" marL="1296000" indent="-288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Time for decision-making?</a:t>
            </a:r>
            <a:endParaRPr b="0" lang="en-GB" sz="1600" spc="-1" strike="noStrike">
              <a:latin typeface="Arial"/>
              <a:ea typeface="Noto Sans CJK SC"/>
            </a:endParaRPr>
          </a:p>
          <a:p>
            <a:pPr lvl="2" marL="1296000" indent="-288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Other</a:t>
            </a:r>
            <a:endParaRPr b="0" lang="en-GB" sz="1600" spc="-1" strike="noStrike">
              <a:latin typeface="Arial"/>
              <a:ea typeface="Noto Sans CJK SC"/>
            </a:endParaRPr>
          </a:p>
        </p:txBody>
      </p:sp>
      <p:sp>
        <p:nvSpPr>
          <p:cNvPr id="54" name="TextBox 27"/>
          <p:cNvSpPr/>
          <p:nvPr/>
        </p:nvSpPr>
        <p:spPr>
          <a:xfrm>
            <a:off x="5254920" y="240120"/>
            <a:ext cx="668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Statistics for patients arriving within 4 hours of known stroke onset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5254920" y="879840"/>
            <a:ext cx="6480000" cy="571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Improvement potential (modelled on own hospital's patients)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7776000" y="1604520"/>
            <a:ext cx="3841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Improving speed to 30 minutes arrival-to-thrombolysis has only a small effect on thrombolysis use, but will improve net benefit (as majority of patients benefit).</a:t>
            </a: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Determination of more stroke onset times is likely to lead to some improvement in thrombolysis use</a:t>
            </a: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Decision to use thrombolysis in patients arriving within 4 hours of known stroke onset is significantly lower than benchmark hospitals (see next slides).</a:t>
            </a: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GB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GB" sz="18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272880" y="1296000"/>
            <a:ext cx="7575120" cy="532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58840"/>
            <a:ext cx="10972080" cy="11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Comparing thrombolysis decision to </a:t>
            </a:r>
            <a:r>
              <a:rPr b="0" i="1" lang="en-US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'benchmark'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  <a:ea typeface="Calibri Light"/>
              </a:rPr>
              <a:t>hospitals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Benchmark hospitals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are the 25 hospitals in England and Wales who are most likely to use thrombolysis if all hospitals saw the same patients (through to time of scan)</a:t>
            </a:r>
            <a:endParaRPr b="0" lang="en-GB" sz="1800" spc="-1" strike="noStrike">
              <a:latin typeface="Arial"/>
              <a:ea typeface="Noto Sans CJK SC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28000" y="2484000"/>
            <a:ext cx="5220000" cy="402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An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ideally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thrombolysable patient: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Infarction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90 mins onset to arrival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Onset not during sleep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Precise onset time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NIHSS 15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No prior disability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No use of anticoagulants for atrial fibrillation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Age 72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552000" y="2484000"/>
            <a:ext cx="5040000" cy="28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Non-ideal changes: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Late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: Arrival at 3hr 45 min after stroke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Mild stroke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: NIHSS 3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Prior disability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: mRS 3 before stroke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Imprecise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: Imprecisely known stroke onset time</a:t>
            </a:r>
            <a:endParaRPr b="0" lang="en-GB" sz="2000" spc="-1" strike="noStrike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Age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: Age 87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532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432000" y="253800"/>
            <a:ext cx="11016000" cy="646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 Light"/>
              </a:rPr>
              <a:t>Predicted (learned) outcome for a mild stroke patient with or without thrombolysis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870" spc="-1" strike="noStrike"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601560" y="1296000"/>
            <a:ext cx="10980000" cy="522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observations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7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Hospital X:</a:t>
            </a:r>
            <a:endParaRPr b="0" lang="en-GB" sz="28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Determines stroke onset times in fewer patients than 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national average</a:t>
            </a:r>
            <a:endParaRPr b="0" lang="en-GB" sz="24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Has good arrival-to-scan times, but slower scan-to-thrombolysis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times than the national average</a:t>
            </a:r>
            <a:endParaRPr b="0" lang="en-GB" sz="2400" spc="-1" strike="noStrike"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3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particularly less likely to give thrombolysis to mild stroke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patients compared to higher thrombolysing 'benchmark'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hospitals.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2026-06-02T11:22:18Z</dcterms:created>
  <dc:creator/>
  <dc:description/>
  <dc:language>en-GB</dc:language>
  <cp:lastModifiedBy/>
  <dcterms:modified xsi:type="dcterms:W3CDTF">2026-06-02T12:00:46Z</dcterms:modified>
  <cp:revision>4</cp:revision>
  <dc:subject/>
  <dc:title/>
</cp:coreProperties>
</file>